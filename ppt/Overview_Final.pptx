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63" r:id="rId17"/>
    <p:sldId id="258" r:id="rId8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61" r:id="rId11"/>
    <p:sldId id="271" r:id="rId25"/>
    <p:sldId id="262" r:id="rId12"/>
  </p:sldIdLst>
  <p:sldSz cx="18288000" cy="10287000"/>
  <p:notesSz cx="6858000" cy="9144000"/>
  <p:embeddedFontLst>
    <p:embeddedFont>
      <p:font typeface="Century Gothic Paneuropean Bold" charset="1" panose="020B0702020202020204"/>
      <p:regular r:id="rId13"/>
    </p:embeddedFont>
    <p:embeddedFont>
      <p:font typeface="Century Gothic Paneuropean" charset="1" panose="020B0502020202020204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4754" y="517276"/>
            <a:ext cx="13018493" cy="328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b="true" sz="47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REMOTE S</a:t>
            </a:r>
            <a:r>
              <a:rPr lang="en-US" b="true" sz="47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ENSING–BASED DETECTION AND TRACKING OF MARINE LITTER</a:t>
            </a:r>
          </a:p>
          <a:p>
            <a:pPr algn="ctr">
              <a:lnSpc>
                <a:spcPts val="6580"/>
              </a:lnSpc>
            </a:pPr>
            <a:r>
              <a:rPr lang="en-US" b="true" sz="47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(EMPHASIS ON MACRO PLASTIC) ALONG THE INDIAN COAST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1920" y="4978905"/>
            <a:ext cx="12916732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JRF:</a:t>
            </a: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Kaushal Nileshbhai Maniyar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69057" y="4988430"/>
            <a:ext cx="8869462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en-US" sz="3000" b="1">
                <a:latin typeface="Canva Sans Bold"/>
                <a:solidFill>
                  <a:srgbClr val="000000"/>
                </a:solidFill>
              </a:rPr>
              <a:t>Under Guidance:</a:t>
            </a:r>
          </a:p>
          <a:p>
            <a:r>
              <a:rPr lang="en-US" sz="2600">
                <a:latin typeface="Canva Sans"/>
                <a:solidFill>
                  <a:srgbClr val="000000"/>
                </a:solidFill>
              </a:rPr>
              <a:t> Dr. Madhuri Bhavsar (PI)</a:t>
            </a:r>
          </a:p>
          <a:p>
            <a:r>
              <a:rPr lang="en-US" sz="2600">
                <a:latin typeface="Canva Sans"/>
                <a:solidFill>
                  <a:srgbClr val="000000"/>
                </a:solidFill>
              </a:rPr>
              <a:t> Dr. Sudeep Tanwar, Dr. Swati Jain</a:t>
            </a:r>
          </a:p>
          <a:p>
            <a:r>
              <a:rPr lang="en-US" sz="2600">
                <a:latin typeface="Canva Sans"/>
                <a:solidFill>
                  <a:srgbClr val="000000"/>
                </a:solidFill>
              </a:rPr>
              <a:t> Dr. Jaiprakash Verma, Dr. Madhukant Patel</a:t>
            </a:r>
          </a:p>
          <a:p>
            <a:r>
              <a:rPr lang="en-US" sz="2800" b="1">
                <a:latin typeface="Canva Sans Bold"/>
                <a:solidFill>
                  <a:srgbClr val="000000"/>
                </a:solidFill>
              </a:rPr>
              <a:t>Focal Persons (SAC/ISRO):</a:t>
            </a:r>
          </a:p>
          <a:p>
            <a:r>
              <a:rPr lang="en-US" sz="2400">
                <a:latin typeface="Canva Sans"/>
                <a:solidFill>
                  <a:srgbClr val="000000"/>
                </a:solidFill>
              </a:rPr>
              <a:t> Dr. Jishad M., Dr. Aditya Chaudhary,</a:t>
            </a:r>
          </a:p>
          <a:p>
            <a:r>
              <a:rPr lang="en-US" sz="2400">
                <a:latin typeface="Canva Sans"/>
                <a:solidFill>
                  <a:srgbClr val="000000"/>
                </a:solidFill>
              </a:rPr>
              <a:t> Dr. Surisetty V. V. Arunkumar, Dr. Neeraj Agrawal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05970" y="8559670"/>
            <a:ext cx="84760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itute of Technology, Nirma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5628" y="1625243"/>
            <a:ext cx="1623367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BACKGROUND &amp; MOTIVATION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2303" y="3018498"/>
            <a:ext cx="15686818" cy="635596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sz="3000" dirty="0">
                <a:latin typeface="Century Gothic Paneuropean"/>
                <a:solidFill>
                  <a:srgbClr val="000000"/>
                </a:solidFill>
              </a:rPr>
              <a:t>Plastic makes up 60–80% of global marine litter — up to 95% in coastal hotspots.</a:t>
            </a:r>
          </a:p>
          <a:p>
            <a:pPr lvl="0"/>
            <a:r>
              <a:rPr lang="en-US" sz="3000" dirty="0">
                <a:latin typeface="Century Gothic Paneuropean"/>
                <a:solidFill>
                  <a:srgbClr val="000000"/>
                </a:solidFill>
              </a:rPr>
              <a:t>India has a 7,500+ km coastline; rivers such as the Cooum and Ganga are major plastic outflows to the ocean.</a:t>
            </a:r>
          </a:p>
          <a:p>
            <a:pPr lvl="0"/>
            <a:r>
              <a:rPr lang="en-US" sz="3000" dirty="0">
                <a:latin typeface="Century Gothic Paneuropean"/>
                <a:solidFill>
                  <a:srgbClr val="000000"/>
                </a:solidFill>
              </a:rPr>
              <a:t>Manual monitoring (boats, drones) is costly and spatially limited.</a:t>
            </a:r>
          </a:p>
          <a:p>
            <a:pPr lvl="0"/>
            <a:r>
              <a:rPr lang="en-US" sz="3000" dirty="0">
                <a:latin typeface="Century Gothic Paneuropean"/>
                <a:solidFill>
                  <a:srgbClr val="000000"/>
                </a:solidFill>
              </a:rPr>
              <a:t>Satellites enable large-scale, low-cost, repeat observation of floating litter.</a:t>
            </a:r>
          </a:p>
          <a:p>
            <a:pPr lvl="0"/>
            <a:r>
              <a:rPr lang="en-US" b="1" sz="3000" dirty="0">
                <a:latin typeface="Century Gothic Paneuropean"/>
                <a:solidFill>
                  <a:srgbClr val="000000"/>
                </a:solidFill>
              </a:rPr>
              <a:t>Goal: Build an AI/ML pipeline to detect floating plastic from multispectral remote sensing data.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22234" y="695325"/>
            <a:ext cx="1184353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METHODOLOGY — END-TO-END PIPELINE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59532" y="2300162"/>
            <a:ext cx="15699768" cy="778129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Data Sources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Hyperspectral spectrometer (Exp 1) — 469 samples, 1%–100% pixel coverage.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Reve multispectral sensor (Exp 2) — 18 bands, 410–940 nm, 79 → 400 samples (SMOTE).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MADOS / Sentinel-2 satellite (Exp 3) — 2,803 images, 15 classes, ~1.5 M annotated pixels.</a:t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Processing Pipeline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Preprocessing: reflectance normalization, ACOLITE atmospheric correction.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Feature engineering: NDVI, FDI, proposed Sea Snot Index (SSI).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Class balancing: SMOTE.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Models: SVM, RF, MLP, kNN, AdaBoost, 1D-CNN, 1D-CNN + Transformer, Self-supervised.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Post-processing: DBSCAN, Closing, Modulo Filter, SAM segmentation.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04700" y="938315"/>
            <a:ext cx="122786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057" y="2590029"/>
            <a:ext cx="15149885" cy="763231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sz="2800" dirty="0">
                <a:latin typeface="Century Gothic Paneuropean"/>
                <a:solidFill>
                  <a:srgbClr val="000000"/>
                </a:solidFill>
              </a:rPr>
              <a:t>• Delivered a full pipeline: spectrum → features → ML/AI → post-processing → satellite deployment.</a:t>
            </a:r>
          </a:p>
          <a:p>
            <a:pPr lvl="0"/>
            <a:r>
              <a:rPr lang="en-US" sz="2800" dirty="0">
                <a:latin typeface="Century Gothic Paneuropean"/>
                <a:solidFill>
                  <a:srgbClr val="000000"/>
                </a:solidFill>
              </a:rPr>
              <a:t>• Three complementary experiments covering sensor, platform and scale.</a:t>
            </a:r>
          </a:p>
          <a:p>
            <a:pPr lvl="0"/>
            <a:r>
              <a:rPr lang="en-US" sz="2800" dirty="0">
                <a:latin typeface="Century Gothic Paneuropean"/>
                <a:solidFill>
                  <a:srgbClr val="000000"/>
                </a:solidFill>
              </a:rPr>
              <a:t>• 97–100% accuracy on controlled spectra; 0.98 recall on real MADOS imagery.</a:t>
            </a:r>
          </a:p>
          <a:p>
            <a:pPr lvl="0"/>
            <a:r>
              <a:rPr lang="en-US" sz="2800" dirty="0">
                <a:latin typeface="Century Gothic Paneuropean"/>
                <a:solidFill>
                  <a:srgbClr val="000000"/>
                </a:solidFill>
              </a:rPr>
              <a:t>• Proposed a novel Sea Snot Index to attack the main false-positive source.</a:t>
            </a:r>
          </a:p>
          <a:p>
            <a:pPr lvl="0"/>
            <a:r>
              <a:rPr lang="en-US" sz="2800" dirty="0">
                <a:latin typeface="Century Gothic Paneuropean"/>
                <a:solidFill>
                  <a:srgbClr val="000000"/>
                </a:solidFill>
              </a:rPr>
              <a:t>• Validated end-to-end on three real coastal sites with Sentinel-2 data.</a:t>
            </a:r>
          </a:p>
          <a:p>
            <a:pPr lvl="0"/>
            <a:r>
              <a:rPr lang="en-US" sz="1400" dirty="0">
                <a:latin typeface="Century Gothic Paneuropean"/>
                <a:solidFill>
                  <a:srgbClr val="000000"/>
                </a:solidFill>
              </a:rPr>
              <a:t/>
            </a:r>
          </a:p>
          <a:p>
            <a:pPr lvl="0"/>
            <a:r>
              <a:rPr lang="en-US" b="1" sz="3000" dirty="0">
                <a:latin typeface="Century Gothic Paneuropean"/>
                <a:solidFill>
                  <a:srgbClr val="000000"/>
                </a:solidFill>
              </a:rPr>
              <a:t>Outcome: A deployable, India-ready framework for satellite-based plastic monitoring.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3222234" y="695325"/>
            <a:ext cx="1184353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PROJECT 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59532" y="2300162"/>
            <a:ext cx="15699768" cy="778129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3200" dirty="0">
                <a:latin typeface="Canva Sans"/>
                <a:solidFill>
                  <a:srgbClr val="000000"/>
                </a:solidFill>
              </a:rPr>
              <a:t>1. Study floating marine debris using remote-sensing optical data.</a:t>
            </a:r>
          </a:p>
          <a:p>
            <a:pPr lvl="0"/>
            <a:r>
              <a:rPr lang="en-US" b="1" sz="3200" dirty="0">
                <a:latin typeface="Canva Sans"/>
                <a:solidFill>
                  <a:srgbClr val="000000"/>
                </a:solidFill>
              </a:rPr>
              <a:t>2. Spectrally characterize plastic and build a spectral library.</a:t>
            </a:r>
          </a:p>
          <a:p>
            <a:pPr lvl="0"/>
            <a:r>
              <a:rPr lang="en-US" b="1" sz="3200" dirty="0">
                <a:latin typeface="Canva Sans"/>
                <a:solidFill>
                  <a:srgbClr val="000000"/>
                </a:solidFill>
              </a:rPr>
              <a:t>3. Develop AI/ML models to automatically distinguish plastic from water, vegetation, sediment, etc.</a:t>
            </a:r>
          </a:p>
          <a:p>
            <a:pPr lvl="0"/>
            <a:r>
              <a:rPr lang="en-US" b="1" sz="3200" dirty="0">
                <a:latin typeface="Canva Sans"/>
                <a:solidFill>
                  <a:srgbClr val="000000"/>
                </a:solidFill>
              </a:rPr>
              <a:t>4. Validate on satellite (Sentinel-2) imagery and real coastal sites.</a:t>
            </a:r>
          </a:p>
          <a:p>
            <a:pPr lvl="0"/>
            <a:r>
              <a:rPr lang="en-US" sz="2000" dirty="0">
                <a:latin typeface="Canva Sans"/>
                <a:solidFill>
                  <a:srgbClr val="000000"/>
                </a:solidFill>
              </a:rPr>
              <a:t/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Target: Detect plastic even at ≥1% pixel coverage — the smallest realistic signal at satellite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760233" y="914400"/>
            <a:ext cx="1676753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EXPERIMENTS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9057" y="2631056"/>
            <a:ext cx="14721483" cy="59810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Exp 1 — Hyperspectral Spectrometer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Data: 469 samples (262 plastic) · pixel coverage 1–100% · water / sediment / vegetation.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Best model: 1D CNN + Transformer — 97% overall · 100% at 1% pixel coverage.</a:t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Exp 2 — Reve Multispectral (410–940 nm, 18 bands)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Data: 79 → 400 samples after SMOTE · outdoor + indoor.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Best models: SVM &amp; MLP — 100%; AdaBoost 99%; RF 98% (using NDVI + 940 nm).</a:t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Exp 3 — MADOS / Sentinel-2 (real satellite data)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Data: 2,803 images, 15 classes, ~4,696 Marine Debris pixels.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Best model: SVM — Recall 0.83 (pixel), 0.98 (image); Precision improved via post-processing.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3222234" y="695325"/>
            <a:ext cx="1184353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EXPERIMENT 1 — HYPERSPECTRAL CHARACTERIZATION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59532" y="2300162"/>
            <a:ext cx="15699768" cy="778129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Design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Custom test-pad; 30° spectrometer FOV; 5.75-inch target radius.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469 spectra — 262 plastic (multi-color, transparent) + water, sediment, vegetation, soil, iron, concrete.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Pixel coverage sweep: 1%, 25%, 50%, 75%, 100%.</a:t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Key Results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1D CNN + Transformer — 97% overall accuracy, 100% at 1% pixel coverage.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Random Forest 90%; SVM (trained) 96%; raw SVM failed (0%).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Spectral normalization removed time-of-day variation (morning vs. evening).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SHAP highlighted a small set of wavelengths that drive plastic classification.</a:t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Key Insight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Models trained on one sensor did not transfer to another — must train per target sensor.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3222234" y="695325"/>
            <a:ext cx="1184353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EXPERIMENT 2 — REVE MULTISPECTRAL (410–940 nm)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59532" y="2300162"/>
            <a:ext cx="15699768" cy="778129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Design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18-band Reve sensor; indoor + outdoor (Charodi Lake, Nirma campus).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9 object classes; 79 raw samples → 400 after SMOTE oversampling.</a:t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Feature Engineering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NDVI (Landsat-8 analogue): (R860 − R645) / (R860 + R645).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FDI adapted: (R810 + (R900 − R810)·0.56) − R860.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Empirical study → NDVI + 940 nm separates plastic vs. non-plastic cleanly (2D scatter).</a:t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Results (All bands + NDVI)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SVM &amp; MLP — 100% · AdaBoost 99% · RF 98% · kNN/DT 97% · GNB 95%.</a:t>
            </a:r>
          </a:p>
          <a:p>
            <a:pPr lvl="0"/>
            <a:r>
              <a:rPr lang="en-US" sz="2400" dirty="0">
                <a:latin typeface="Canva Sans"/>
                <a:solidFill>
                  <a:srgbClr val="000000"/>
                </a:solidFill>
              </a:rPr>
              <a:t>• Self-supervised (encoder-decoder + RF): 0.87 – 0.96 across seeds.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760233" y="914400"/>
            <a:ext cx="1676753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EXPERIMENT 3 — MADOS / SENTINEL-2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9057" y="2631056"/>
            <a:ext cx="14721483" cy="59810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Dataset &amp; Scale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2,803 Sentinel-2 images (240×240), 15 classes, ~1.5 M annotated pixels.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4,696 Marine Debris pixels; 7.6 L train / 3.5 L val / 3.6 L test pixels.</a:t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Pixel-level Results (SVM, best of 6 models)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Recall 0.83 · Precision 0.60 · F1 0.70 (MD class).</a:t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Image-level Results (SVM, full dataset)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TP 121 · FP 194 · TN 405 · FN 2 · Recall 0.98 · Precision 0.38 · F1 0.55.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High recall, but false positives from ships / islands / Sea Snot drag precision.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760233" y="914400"/>
            <a:ext cx="1676753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IMPROVING PRECISION — SSI &amp; POST-PROCESSING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9057" y="2631056"/>
            <a:ext cx="14721483" cy="59810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Sea Snot Index (proposed)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SSI = (R_B8 − R_B11) / (R_B8 + R_B11) — targets the spectral gap of sea snot.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Motivation: sea snot was the largest source of false positives.</a:t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Post-processing — Image-level F1 on MADOS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SVM baseline         Recall 0.98 · Precision 0.38 · F1 0.55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+ Closing (3×3)      Recall 0.05 · Precision 0.31 · F1 0.09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+ Modulo Filter (2×2) Recall 0.48 · Precision 0.49 · F1 0.48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+ SAM (Meta)         Recall 0.69 · Precision 0.42 · F1 0.52</a:t>
            </a:r>
          </a:p>
          <a:p>
            <a:pPr lvl="0"/>
            <a:r>
              <a:rPr lang="en-US" b="1" sz="2600" dirty="0">
                <a:latin typeface="Canva Sans"/>
                <a:solidFill>
                  <a:srgbClr val="000000"/>
                </a:solidFill>
              </a:rPr>
              <a:t>• Takeaway: SAM best balances recall &amp; precision; closing over-erodes small debris.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760233" y="914400"/>
            <a:ext cx="1676753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FIELD VALIDATION — REAL SENTINEL-2 SITES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9057" y="2631056"/>
            <a:ext cx="14721483" cy="59810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Sites Tested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Limassol Bay (Cyprus) — plastic-net target (Jun 2025).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Cooum River, Chennai — urban plastic outflow (Jun 2022).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Ocean CleanUp Interceptors — river-mouth debris capture sites (Jan 2025).</a:t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Observations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Model correctly localises debris patches; morphology preserved after SAM.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Initial accuracy poor without atmospheric correction.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After ACOLITE correction: predictions cleaner, noise drastically reduced.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ACOLITE integration currently blocked by a ‘NoneType’ pre-processor error — in progress.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3222234" y="695325"/>
            <a:ext cx="1184353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KEY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59532" y="2300162"/>
            <a:ext cx="15699768" cy="778129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1. Plastic is detectable at ≥1% pixel coverage — 1D CNN + Transformer generalises across coverage levels.</a:t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2. NDVI + 940 nm is a surprisingly strong 2-feature separator at multispectral resolution.</a:t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3. Sea snot is the dominant false-positive class; a dedicated SSI helps but is not a full fix.</a:t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4. Post-processing trades recall for precision — SAM segmentation is the best compromise.</a:t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5. Atmospheric correction (ACOLITE) is non-negotiable for real Sentinel-2 scenes.</a:t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6. Cross-sensor transfer fails — models must be trained on data from the target sensor.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2" id="2"/>
          <p:cNvSpPr txBox="true"/>
          <p:nvPr/>
        </p:nvSpPr>
        <p:spPr>
          <a:xfrm rot="0">
            <a:off x="760233" y="914400"/>
            <a:ext cx="1676753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FUTURE WORK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9057" y="2631056"/>
            <a:ext cx="14721483" cy="59810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Short term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Resolve ACOLITE pipeline error; integrate as an automated preprocessing step.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Retrain detection models on Sentinel-2 bands to close the cross-sensor gap.</a:t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Medium term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Release an open hyperspectral library of Indian plastics + environments.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Extend the Sea Snot Index and test deep segmentation models (U-Net, DeepLabv3+).</a:t>
            </a:r>
          </a:p>
          <a:p>
            <a:pPr lvl="0"/>
            <a:r>
              <a:rPr lang="en-US" b="1" sz="3000" dirty="0">
                <a:latin typeface="Canva Sans"/>
                <a:solidFill>
                  <a:srgbClr val="000000"/>
                </a:solidFill>
              </a:rPr>
              <a:t>Long term</a:t>
            </a:r>
          </a:p>
          <a:p>
            <a:pPr lvl="0"/>
            <a:r>
              <a:rPr lang="en-US" sz="2600" dirty="0">
                <a:latin typeface="Canva Sans"/>
                <a:solidFill>
                  <a:srgbClr val="000000"/>
                </a:solidFill>
              </a:rPr>
              <a:t>• Operational deployment along the Indian coast; integrate with ISRO Sentinel-2 products.</a:t>
            </a:r>
          </a:p>
          <a:p>
            <a:pPr lvl="0"/>
            <a:r>
              <a:rPr lang="en-US" sz="1400" dirty="0">
                <a:latin typeface="Canva Sans"/>
                <a:solidFill>
                  <a:srgbClr val="000000"/>
                </a:solidFill>
              </a:rPr>
              <a:t/>
            </a:r>
          </a:p>
          <a:p>
            <a:pPr lvl="0"/>
            <a:r>
              <a:rPr lang="en-US" b="1" sz="2800" dirty="0">
                <a:latin typeface="Canva Sans"/>
                <a:solidFill>
                  <a:srgbClr val="000000"/>
                </a:solidFill>
              </a:rPr>
              <a:t>Ask: access to SAC / ISRO Sentinel-2 archive for target sites along the Indian coast.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DAG6kcan3-Y</dc:identifier>
  <dcterms:modified xsi:type="dcterms:W3CDTF">2011-08-01T06:04:30Z</dcterms:modified>
  <cp:revision>1</cp:revision>
  <dc:title>Remote Sensing–based Detection and Tracking of Marine Litter (Emphasis on Macro Plastic) along the Indian Coast</dc:title>
</cp:coreProperties>
</file>